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00" cy="762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762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303520" cy="68580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73152"/>
            <a:ext cx="164592" cy="68580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00"/>
              </a:lnSpc>
              <a:defRPr sz="3800" b="1">
                <a:solidFill>
                  <a:srgbClr val="FFFFFF"/>
                </a:solidFill>
                <a:latin typeface="Microsoft YaHei Hei"/>
              </a:defRPr>
            </a:pPr>
            <a:r>
              <a:t>草地作物病虫害</a:t>
            </a:r>
            <a:br/>
            <a:r>
              <a:t>智能监测系统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383280"/>
            <a:ext cx="3474720" cy="635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defRPr sz="2600" b="1">
                <a:solidFill>
                  <a:srgbClr val="F5E0A0"/>
                </a:solidFill>
                <a:latin typeface="Arial"/>
              </a:defRPr>
            </a:pPr>
            <a:r>
              <a:t>AgroGuard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BBCCEE"/>
                </a:solidFill>
                <a:latin typeface="Microsoft YaHei Hei"/>
              </a:defRPr>
            </a:pPr>
            <a:r>
              <a:t>Intelligent Monitoring System</a:t>
            </a:r>
            <a:br/>
            <a:r>
              <a:t>for Grassland Crop Pests &amp; Diseases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71616" y="1408176"/>
            <a:ext cx="5486400" cy="438912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0" y="1371600"/>
            <a:ext cx="54864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00"/>
              </a:lnSpc>
              <a:defRPr sz="2800" b="1">
                <a:solidFill>
                  <a:srgbClr val="1A56C4"/>
                </a:solidFill>
                <a:latin typeface="Microsoft YaHei Hei"/>
              </a:defRPr>
            </a:pPr>
            <a:r>
              <a:t>中期答辩汇报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286000"/>
            <a:ext cx="2286000" cy="508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0">
                <a:solidFill>
                  <a:srgbClr val="9CA3AF"/>
                </a:solidFill>
                <a:latin typeface="Microsoft YaHei Hei"/>
              </a:defRPr>
            </a:pPr>
            <a:r>
              <a:t>类　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651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1E293B"/>
                </a:solidFill>
                <a:latin typeface="Microsoft YaHei Hei"/>
              </a:defRPr>
            </a:pPr>
            <a:r>
              <a:t>设计类毕业设计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0">
                <a:solidFill>
                  <a:srgbClr val="9CA3AF"/>
                </a:solidFill>
                <a:latin typeface="Microsoft YaHei Hei"/>
              </a:defRPr>
            </a:pPr>
            <a:r>
              <a:t>答辩人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00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1E293B"/>
                </a:solidFill>
                <a:latin typeface="Microsoft YaHei Hei"/>
              </a:defRPr>
            </a:pPr>
            <a:r>
              <a:t>田昊天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3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0">
                <a:solidFill>
                  <a:srgbClr val="9CA3AF"/>
                </a:solidFill>
                <a:latin typeface="Microsoft YaHei Hei"/>
              </a:defRPr>
            </a:pPr>
            <a:r>
              <a:t>日　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749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1E293B"/>
                </a:solidFill>
                <a:latin typeface="Microsoft YaHei Hei"/>
              </a:defRPr>
            </a:pPr>
            <a:r>
              <a:t>2026年4月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572000"/>
            <a:ext cx="960120" cy="41148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Vue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4572000"/>
            <a:ext cx="960120" cy="411480"/>
          </a:xfrm>
          <a:prstGeom prst="round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Flask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4572000"/>
            <a:ext cx="960120" cy="41148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MySQL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4572000"/>
            <a:ext cx="960120" cy="411480"/>
          </a:xfrm>
          <a:prstGeom prst="round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Docker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07040" y="4572000"/>
            <a:ext cx="960120" cy="41148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智谱AI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9CA3AF"/>
                </a:solidFill>
                <a:latin typeface="Microsoft YaHei Hei"/>
              </a:defRPr>
            </a:pPr>
            <a:r>
              <a:t>草地作物病虫害智能监测系统  ·  田昊天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00" cy="762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762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100"/>
              </a:lnSpc>
              <a:defRPr sz="3400" b="1">
                <a:solidFill>
                  <a:srgbClr val="1E293B"/>
                </a:solidFill>
                <a:latin typeface="Microsoft YaHei Hei"/>
              </a:defRPr>
            </a:pPr>
            <a:r>
              <a:t>汇报提纲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2560320" cy="508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3776" y="1499616"/>
            <a:ext cx="5486400" cy="100584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645920"/>
            <a:ext cx="548640" cy="548640"/>
          </a:xfrm>
          <a:prstGeom prst="ellipse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544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defRPr sz="1800" b="1">
                <a:solidFill>
                  <a:srgbClr val="1E293B"/>
                </a:solidFill>
                <a:latin typeface="Microsoft YaHei Hei"/>
              </a:defRPr>
            </a:pPr>
            <a:r>
              <a:t>项目背景与研究意义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65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9CA3AF"/>
                </a:solidFill>
                <a:latin typeface="Microsoft YaHei Hei"/>
              </a:defRPr>
            </a:pPr>
            <a:r>
              <a:t>行业现状、政策背景、课题目标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499616"/>
            <a:ext cx="5486400" cy="100584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1645920"/>
            <a:ext cx="548640" cy="548640"/>
          </a:xfrm>
          <a:prstGeom prst="ellipse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5544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defRPr sz="1800" b="1">
                <a:solidFill>
                  <a:srgbClr val="1E293B"/>
                </a:solidFill>
                <a:latin typeface="Microsoft YaHei Hei"/>
              </a:defRPr>
            </a:pPr>
            <a:r>
              <a:t>系统需求分析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965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9CA3AF"/>
                </a:solidFill>
                <a:latin typeface="Microsoft YaHei Hei"/>
              </a:defRPr>
            </a:pPr>
            <a:r>
              <a:t>功能需求、非功能需求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" y="2688336"/>
            <a:ext cx="5486400" cy="100584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2651760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360" y="2834640"/>
            <a:ext cx="548640" cy="548640"/>
          </a:xfrm>
          <a:prstGeom prst="ellipse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743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defRPr sz="1800" b="1">
                <a:solidFill>
                  <a:srgbClr val="1E293B"/>
                </a:solidFill>
                <a:latin typeface="Microsoft YaHei Hei"/>
              </a:defRPr>
            </a:pPr>
            <a:r>
              <a:t>系统架构设计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54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9CA3AF"/>
                </a:solidFill>
                <a:latin typeface="Microsoft YaHei Hei"/>
              </a:defRPr>
            </a:pPr>
            <a:r>
              <a:t>技术选型、架构图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2688336"/>
            <a:ext cx="5486400" cy="100584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2651760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55080" y="2834640"/>
            <a:ext cx="548640" cy="548640"/>
          </a:xfrm>
          <a:prstGeom prst="ellipse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743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defRPr sz="1800" b="1">
                <a:solidFill>
                  <a:srgbClr val="1E293B"/>
                </a:solidFill>
                <a:latin typeface="Microsoft YaHei Hei"/>
              </a:defRPr>
            </a:pPr>
            <a:r>
              <a:t>数据库设计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154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9CA3AF"/>
                </a:solidFill>
                <a:latin typeface="Microsoft YaHei Hei"/>
              </a:defRPr>
            </a:pPr>
            <a:r>
              <a:t>核心数据表、ER关系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" y="3877056"/>
            <a:ext cx="5486400" cy="100584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3840480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4360" y="4023360"/>
            <a:ext cx="548640" cy="548640"/>
          </a:xfrm>
          <a:prstGeom prst="ellipse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9319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defRPr sz="1800" b="1">
                <a:solidFill>
                  <a:srgbClr val="1E293B"/>
                </a:solidFill>
                <a:latin typeface="Microsoft YaHei Hei"/>
              </a:defRPr>
            </a:pPr>
            <a:r>
              <a:t>功能模块实现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343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9CA3AF"/>
                </a:solidFill>
                <a:latin typeface="Microsoft YaHei Hei"/>
              </a:defRPr>
            </a:pPr>
            <a:r>
              <a:t>8大核心模块详解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4496" y="3877056"/>
            <a:ext cx="5486400" cy="100584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0" y="3840480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55080" y="4023360"/>
            <a:ext cx="548640" cy="548640"/>
          </a:xfrm>
          <a:prstGeom prst="ellipse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9319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defRPr sz="1800" b="1">
                <a:solidFill>
                  <a:srgbClr val="1E293B"/>
                </a:solidFill>
                <a:latin typeface="Microsoft YaHei Hei"/>
              </a:defRPr>
            </a:pPr>
            <a:r>
              <a:t>系统展示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343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9CA3AF"/>
                </a:solidFill>
                <a:latin typeface="Microsoft YaHei Hei"/>
              </a:defRPr>
            </a:pPr>
            <a:r>
              <a:t>功能演示与界面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776" y="5065776"/>
            <a:ext cx="5486400" cy="100584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" y="5029200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4360" y="5212080"/>
            <a:ext cx="548640" cy="548640"/>
          </a:xfrm>
          <a:prstGeom prst="ellipse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1206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defRPr sz="1800" b="1">
                <a:solidFill>
                  <a:srgbClr val="1E293B"/>
                </a:solidFill>
                <a:latin typeface="Microsoft YaHei Hei"/>
              </a:defRPr>
            </a:pPr>
            <a:r>
              <a:t>当前进展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5532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9CA3AF"/>
                </a:solidFill>
                <a:latin typeface="Microsoft YaHei Hei"/>
              </a:defRPr>
            </a:pPr>
            <a:r>
              <a:t>完成情况与进度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4496" y="5065776"/>
            <a:ext cx="5486400" cy="100584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17920" y="5029200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55080" y="5212080"/>
            <a:ext cx="548640" cy="548640"/>
          </a:xfrm>
          <a:prstGeom prst="ellipse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1206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defRPr sz="1800" b="1">
                <a:solidFill>
                  <a:srgbClr val="1E293B"/>
                </a:solidFill>
                <a:latin typeface="Microsoft YaHei Hei"/>
              </a:defRPr>
            </a:pPr>
            <a:r>
              <a:t>后续计划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532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9CA3AF"/>
                </a:solidFill>
                <a:latin typeface="Microsoft YaHei Hei"/>
              </a:defRPr>
            </a:pPr>
            <a:r>
              <a:t>剩余工作安排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9CA3AF"/>
                </a:solidFill>
                <a:latin typeface="Microsoft YaHei Hei"/>
              </a:defRPr>
            </a:pPr>
            <a:r>
              <a:t>草地作物病虫害智能监测系统  ·  田昊天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00" cy="762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762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defRPr sz="3000" b="1">
                <a:solidFill>
                  <a:srgbClr val="1E293B"/>
                </a:solidFill>
                <a:latin typeface="Microsoft YaHei Hei"/>
              </a:defRPr>
            </a:pPr>
            <a:r>
              <a:t>一、项目背景与研究意义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3200400" cy="508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3776" y="1408176"/>
            <a:ext cx="5577840" cy="22860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5778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1463040" cy="36576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研究背景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4B5563"/>
                </a:solidFill>
                <a:latin typeface="Microsoft YaHei Hei"/>
              </a:defRPr>
            </a:pPr>
            <a:r>
              <a:t>▸  草地作物是畜牧业发展的重要物质基础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4B5563"/>
                </a:solidFill>
                <a:latin typeface="Microsoft YaHei Hei"/>
              </a:defRPr>
            </a:pPr>
            <a:r>
              <a:t>▸  病虫害是影响产量和品质的主要因素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4B5563"/>
                </a:solidFill>
                <a:latin typeface="Microsoft YaHei Hei"/>
              </a:defRPr>
            </a:pPr>
            <a:r>
              <a:t>▸  传统人工巡查效率低、成本高、时效性差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4B5563"/>
                </a:solidFill>
                <a:latin typeface="Microsoft YaHei Hei"/>
              </a:defRPr>
            </a:pPr>
            <a:r>
              <a:t>▸  智慧农业发展需要信息化支撑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408176"/>
            <a:ext cx="5486400" cy="22860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F5E0A0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508760"/>
            <a:ext cx="1463040" cy="365760"/>
          </a:xfrm>
          <a:prstGeom prst="round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研究意义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334155"/>
                </a:solidFill>
                <a:latin typeface="Microsoft YaHei Hei"/>
              </a:defRPr>
            </a:pPr>
            <a:r>
              <a:t>▸  理论：实践前后端分离、RESTful API 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231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334155"/>
                </a:solidFill>
                <a:latin typeface="Microsoft YaHei Hei"/>
              </a:defRPr>
            </a:pPr>
            <a:r>
              <a:t>▸  实践：实现监测数据统一管理与智能分析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889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334155"/>
                </a:solidFill>
                <a:latin typeface="Microsoft YaHei Hei"/>
              </a:defRPr>
            </a:pPr>
            <a:r>
              <a:t>▸  应用：响应式设计，多终端访问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" y="3968496"/>
            <a:ext cx="11247120" cy="210312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112471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069080"/>
            <a:ext cx="146304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课题目标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defRPr sz="1500" b="0">
                <a:solidFill>
                  <a:srgbClr val="4B5563"/>
                </a:solidFill>
                <a:latin typeface="Microsoft YaHei Hei"/>
              </a:defRPr>
            </a:pPr>
            <a:r>
              <a:t>设计并实现一套基于 Web 技术的草地作物病虫害智能监测系统，通过前后端分离架构实现病虫害数据管理、图像识别集成、监测数据可视化和预警管理等功能。系统采用 Vue 3 + Flask + MySQL 技术栈，集成智谱 AI (GLM-4) 提供智能诊断，通过 Docker Compose 实现一键部署。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9CA3AF"/>
                </a:solidFill>
                <a:latin typeface="Microsoft YaHei Hei"/>
              </a:defRPr>
            </a:pPr>
            <a:r>
              <a:t>草地作物病虫害智能监测系统  ·  田昊天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00" cy="762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762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defRPr sz="3000" b="1">
                <a:solidFill>
                  <a:srgbClr val="1E293B"/>
                </a:solidFill>
                <a:latin typeface="Microsoft YaHei Hei"/>
              </a:defRPr>
            </a:pPr>
            <a:r>
              <a:t>二、系统需求分析 — 功能需求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3200400" cy="508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3776" y="1499616"/>
            <a:ext cx="2697480" cy="224028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6974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600200"/>
            <a:ext cx="502920" cy="502920"/>
          </a:xfrm>
          <a:prstGeom prst="ellipse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1A56C4"/>
                </a:solidFill>
                <a:latin typeface="Microsoft YaHei Hei"/>
              </a:defRPr>
            </a:pPr>
            <a:r>
              <a:t>用户管理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注册、登录、权限分配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499616"/>
            <a:ext cx="2697480" cy="224028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7560" y="1463040"/>
            <a:ext cx="26974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74720" y="1600200"/>
            <a:ext cx="502920" cy="502920"/>
          </a:xfrm>
          <a:prstGeom prst="ellipse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945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C88C1E"/>
                </a:solidFill>
                <a:latin typeface="Microsoft YaHei Hei"/>
              </a:defRPr>
            </a:pPr>
            <a:r>
              <a:t>田块/作物管理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0604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田块信息维护、作物种类</a:t>
            </a:r>
            <a:br/>
            <a:r>
              <a:t>记录、生长周期跟踪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499616"/>
            <a:ext cx="2697480" cy="224028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463040"/>
            <a:ext cx="26974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55080" y="1600200"/>
            <a:ext cx="502920" cy="502920"/>
          </a:xfrm>
          <a:prstGeom prst="ellipse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945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1A56C4"/>
                </a:solidFill>
                <a:latin typeface="Microsoft YaHei Hei"/>
              </a:defRPr>
            </a:pPr>
            <a:r>
              <a:t>草地分区管理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0604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区域划分、责任人分配</a:t>
            </a:r>
            <a:br/>
            <a:r>
              <a:t>区域状态管理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1499616"/>
            <a:ext cx="2697480" cy="224028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98280" y="1463040"/>
            <a:ext cx="26974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35440" y="1600200"/>
            <a:ext cx="502920" cy="502920"/>
          </a:xfrm>
          <a:prstGeom prst="ellipse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1945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C88C1E"/>
                </a:solidFill>
                <a:latin typeface="Microsoft YaHei Hei"/>
              </a:defRPr>
            </a:pPr>
            <a:r>
              <a:t>病虫害监测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60604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繁殖周期记录、预警阈值</a:t>
            </a:r>
            <a:br/>
            <a:r>
              <a:t>设置、防治计划制定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" y="4014215"/>
            <a:ext cx="2697480" cy="224028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3977639"/>
            <a:ext cx="26974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4360" y="4114799"/>
            <a:ext cx="502920" cy="502920"/>
          </a:xfrm>
          <a:prstGeom prst="ellipse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709159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1A56C4"/>
                </a:solidFill>
                <a:latin typeface="Microsoft YaHei Hei"/>
              </a:defRPr>
            </a:pPr>
            <a:r>
              <a:t>病虫害记录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120639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发生时间地点、类型等级</a:t>
            </a:r>
            <a:br/>
            <a:r>
              <a:t>处置措施记录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74136" y="4014215"/>
            <a:ext cx="2697480" cy="224028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37560" y="3977639"/>
            <a:ext cx="26974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474720" y="4114799"/>
            <a:ext cx="502920" cy="502920"/>
          </a:xfrm>
          <a:prstGeom prst="ellipse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709159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C88C1E"/>
                </a:solidFill>
                <a:latin typeface="Microsoft YaHei Hei"/>
              </a:defRPr>
            </a:pPr>
            <a:r>
              <a:t>物资管理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120639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农药入库、库存盘点</a:t>
            </a:r>
            <a:br/>
            <a:r>
              <a:t>物资使用统计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54496" y="4014215"/>
            <a:ext cx="2697480" cy="224028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0" y="3977639"/>
            <a:ext cx="26974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55080" y="4114799"/>
            <a:ext cx="502920" cy="502920"/>
          </a:xfrm>
          <a:prstGeom prst="ellipse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709159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1A56C4"/>
                </a:solidFill>
                <a:latin typeface="Microsoft YaHei Hei"/>
              </a:defRPr>
            </a:pPr>
            <a:r>
              <a:t>数据统计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120639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监测数据报表</a:t>
            </a:r>
            <a:br/>
            <a:r>
              <a:t>可视化分析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34856" y="4014215"/>
            <a:ext cx="2697480" cy="224028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098280" y="3977639"/>
            <a:ext cx="26974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35440" y="4114799"/>
            <a:ext cx="502920" cy="502920"/>
          </a:xfrm>
          <a:prstGeom prst="ellipse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709159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C88C1E"/>
                </a:solidFill>
                <a:latin typeface="Microsoft YaHei Hei"/>
              </a:defRPr>
            </a:pPr>
            <a:r>
              <a:t>智能诊断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5120639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AI 问答（智谱 GLM-4）</a:t>
            </a:r>
            <a:br/>
            <a:r>
              <a:t>诊断建议生成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9CA3AF"/>
                </a:solidFill>
                <a:latin typeface="Microsoft YaHei Hei"/>
              </a:defRPr>
            </a:pPr>
            <a:r>
              <a:t>草地作物病虫害智能监测系统  ·  田昊天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00" cy="762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762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defRPr sz="3000" b="1">
                <a:solidFill>
                  <a:srgbClr val="1E293B"/>
                </a:solidFill>
                <a:latin typeface="Microsoft YaHei Hei"/>
              </a:defRPr>
            </a:pPr>
            <a:r>
              <a:t>二、系统需求分析 — 非功能需求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3200400" cy="508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3776" y="1499616"/>
            <a:ext cx="2697480" cy="237744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6974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1600200"/>
            <a:ext cx="1463040" cy="41148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性能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4B5563"/>
                </a:solidFill>
                <a:latin typeface="Microsoft YaHei Hei"/>
              </a:defRPr>
            </a:pPr>
            <a:r>
              <a:t>API 响应时间 &lt; 500ms</a:t>
            </a:r>
            <a:br/>
            <a:r>
              <a:t>支持 100 用户/秒并发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1499616"/>
            <a:ext cx="2697480" cy="237744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463040"/>
            <a:ext cx="26974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31920" y="1600200"/>
            <a:ext cx="1463040" cy="411480"/>
          </a:xfrm>
          <a:prstGeom prst="round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安全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4028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4B5563"/>
                </a:solidFill>
                <a:latin typeface="Microsoft YaHei Hei"/>
              </a:defRPr>
            </a:pPr>
            <a:r>
              <a:t>JWT 身份认证</a:t>
            </a:r>
            <a:br/>
            <a:r>
              <a:t>基于角色的权限控制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499616"/>
            <a:ext cx="2697480" cy="237744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6974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12280" y="1600200"/>
            <a:ext cx="1463040" cy="41148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可用性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4B5563"/>
                </a:solidFill>
                <a:latin typeface="Microsoft YaHei Hei"/>
              </a:defRPr>
            </a:pPr>
            <a:r>
              <a:t>响应式布局</a:t>
            </a:r>
            <a:br/>
            <a:r>
              <a:t>适配 PC 端和移动端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34856" y="1499616"/>
            <a:ext cx="2697480" cy="237744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98280" y="1463040"/>
            <a:ext cx="26974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92640" y="1600200"/>
            <a:ext cx="1463040" cy="411480"/>
          </a:xfrm>
          <a:prstGeom prst="round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可维护性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24028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4B5563"/>
                </a:solidFill>
                <a:latin typeface="Microsoft YaHei Hei"/>
              </a:defRPr>
            </a:pPr>
            <a:r>
              <a:t>模块化设计（11 个蓝图）</a:t>
            </a:r>
            <a:br/>
            <a:r>
              <a:t>Docker 一键部署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" y="4151376"/>
            <a:ext cx="11247120" cy="18288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4114800"/>
            <a:ext cx="11247120" cy="18288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251960"/>
            <a:ext cx="1828800" cy="36576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系统用例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600" b="0">
                <a:solidFill>
                  <a:srgbClr val="334155"/>
                </a:solidFill>
                <a:latin typeface="Microsoft YaHei Hei"/>
              </a:defRPr>
            </a:pPr>
            <a:r>
              <a:t>用户登录  →  系统首页  →  田块管理 / 病虫害管理 / 物资管理 / 数据统计 / 预警管理 / 智能诊断  →  退出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9CA3AF"/>
                </a:solidFill>
                <a:latin typeface="Microsoft YaHei Hei"/>
              </a:defRPr>
            </a:pPr>
            <a:r>
              <a:t>草地作物病虫害智能监测系统  ·  田昊天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00" cy="762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762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defRPr sz="3000" b="1">
                <a:solidFill>
                  <a:srgbClr val="1E293B"/>
                </a:solidFill>
                <a:latin typeface="Microsoft YaHei Hei"/>
              </a:defRPr>
            </a:pPr>
            <a:r>
              <a:t>三、系统架构设计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3200400" cy="508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3776" y="1408176"/>
            <a:ext cx="3611880" cy="256032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11880" cy="25603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463040"/>
            <a:ext cx="1645920" cy="36576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前端技术栈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Vue 3.4 + 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311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Element Plus 2.9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963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Pinia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6148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Vue Router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26663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Vite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9183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Tailwind CSS + SCSS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57015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ECharts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1408176"/>
            <a:ext cx="3611880" cy="256032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51960" y="1371600"/>
            <a:ext cx="3611880" cy="2560320"/>
          </a:xfrm>
          <a:prstGeom prst="roundRect">
            <a:avLst/>
          </a:prstGeom>
          <a:solidFill>
            <a:srgbClr val="F5E0A0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1463040"/>
            <a:ext cx="1645920" cy="365760"/>
          </a:xfrm>
          <a:prstGeom prst="round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后端技术栈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9659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Flask 3.0.3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2311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Flask-JWT-Extended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4963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SQLAlchemy 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76148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MySQL 5.7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026663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Python 3.9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29183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Pandas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557015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智谱 AI (GLM-4)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1408176"/>
            <a:ext cx="3611880" cy="256032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0" y="1371600"/>
            <a:ext cx="3611880" cy="2560320"/>
          </a:xfrm>
          <a:prstGeom prst="roundRect">
            <a:avLst/>
          </a:prstGeom>
          <a:solidFill>
            <a:srgbClr val="E0EC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83880" y="1463040"/>
            <a:ext cx="1645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部署架构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19659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Docker Compose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22311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Nginx :5020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24963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Flask :5000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276148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MySQL :5010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3026663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Nginx 反向代理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329183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Brotli 压缩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3557015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334155"/>
                </a:solidFill>
                <a:latin typeface="Microsoft YaHei Hei"/>
              </a:defRPr>
            </a:pPr>
            <a:r>
              <a:t>▸  数据卷持久化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776" y="4197096"/>
            <a:ext cx="11247120" cy="192024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" y="4160520"/>
            <a:ext cx="112471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0080" y="4297680"/>
            <a:ext cx="1828800" cy="36576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数据流架构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846320"/>
            <a:ext cx="1737360" cy="86868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Microsoft YaHei Hei"/>
              </a:defRPr>
            </a:pPr>
            <a:r>
              <a:t>浏览器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26080" y="4846320"/>
            <a:ext cx="1737360" cy="868680"/>
          </a:xfrm>
          <a:prstGeom prst="roundRect">
            <a:avLst/>
          </a:prstGeom>
          <a:solidFill>
            <a:srgbClr val="1A56C4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 Hei"/>
              </a:defRPr>
            </a:pPr>
            <a:r>
              <a:t>Nginx</a:t>
            </a:r>
            <a:br/>
            <a:r>
              <a:t>:5020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0640" y="4846320"/>
            <a:ext cx="1737360" cy="868680"/>
          </a:xfrm>
          <a:prstGeom prst="roundRect">
            <a:avLst/>
          </a:prstGeom>
          <a:solidFill>
            <a:srgbClr val="C88C1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 Hei"/>
              </a:defRPr>
            </a:pPr>
            <a:r>
              <a:t>Flask + JWT</a:t>
            </a:r>
            <a:br/>
            <a:r>
              <a:t>:5000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4846320"/>
            <a:ext cx="1737360" cy="86868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93B"/>
                </a:solidFill>
                <a:latin typeface="Microsoft YaHei Hei"/>
              </a:defRPr>
            </a:pPr>
            <a:r>
              <a:t>SQLAlchemy</a:t>
            </a:r>
            <a:br/>
            <a:r>
              <a:t>ORM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0" y="4846320"/>
            <a:ext cx="1737360" cy="868680"/>
          </a:xfrm>
          <a:prstGeom prst="roundRect">
            <a:avLst/>
          </a:prstGeom>
          <a:solidFill>
            <a:srgbClr val="1A56C4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 Hei"/>
              </a:defRPr>
            </a:pPr>
            <a:r>
              <a:t>MySQL</a:t>
            </a:r>
            <a:br/>
            <a:r>
              <a:t>:5010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6040" y="5029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200" b="1">
                <a:solidFill>
                  <a:srgbClr val="C88C1E"/>
                </a:solidFill>
                <a:latin typeface="Microsoft YaHei Hei"/>
              </a:defRPr>
            </a:pPr>
            <a: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00600" y="5029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200" b="1">
                <a:solidFill>
                  <a:srgbClr val="C88C1E"/>
                </a:solidFill>
                <a:latin typeface="Microsoft YaHei Hei"/>
              </a:defRPr>
            </a:pPr>
            <a: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5029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200" b="1">
                <a:solidFill>
                  <a:srgbClr val="C88C1E"/>
                </a:solidFill>
                <a:latin typeface="Microsoft YaHei Hei"/>
              </a:defRPr>
            </a:pPr>
            <a: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5029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defRPr sz="2200" b="1">
                <a:solidFill>
                  <a:srgbClr val="C88C1E"/>
                </a:solidFill>
                <a:latin typeface="Microsoft YaHei Hei"/>
              </a:defRPr>
            </a:pPr>
            <a: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9CA3AF"/>
                </a:solidFill>
                <a:latin typeface="Microsoft YaHei Hei"/>
              </a:defRPr>
            </a:pPr>
            <a:r>
              <a:t>草地作物病虫害智能监测系统  ·  田昊天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00" cy="762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762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defRPr sz="3000" b="1">
                <a:solidFill>
                  <a:srgbClr val="1E293B"/>
                </a:solidFill>
                <a:latin typeface="Microsoft YaHei Hei"/>
              </a:defRPr>
            </a:pPr>
            <a:r>
              <a:t>四、数据库设计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3200400" cy="508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3776" y="1408176"/>
            <a:ext cx="11247120" cy="36576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371600" cy="32004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表名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417320"/>
            <a:ext cx="1371600" cy="320040"/>
          </a:xfrm>
          <a:prstGeom prst="round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中文名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46304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1">
                <a:solidFill>
                  <a:srgbClr val="1A56C4"/>
                </a:solidFill>
                <a:latin typeface="Microsoft YaHei Hei"/>
              </a:defRPr>
            </a:pPr>
            <a:r>
              <a:t>核心字段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1106424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334155"/>
                </a:solidFill>
                <a:latin typeface="Consolas"/>
              </a:defRPr>
            </a:pPr>
            <a:r>
              <a:t>account_myuser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8745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C88C1E"/>
                </a:solidFill>
                <a:latin typeface="Microsoft YaHei Hei"/>
              </a:defRPr>
            </a:pPr>
            <a:r>
              <a:t>用户表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874519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username, password, realname, jobrole, belong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67712"/>
            <a:ext cx="110642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2677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334155"/>
                </a:solidFill>
                <a:latin typeface="Consolas"/>
              </a:defRPr>
            </a:pPr>
            <a:r>
              <a:t>basic_basicinfo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267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C88C1E"/>
                </a:solidFill>
                <a:latin typeface="Microsoft YaHei Hei"/>
              </a:defRPr>
            </a:pPr>
            <a:r>
              <a:t>田块信息表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26771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ele_num, variety, sex, birth, weight, house, 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60903"/>
            <a:ext cx="1106424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6090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334155"/>
                </a:solidFill>
                <a:latin typeface="Consolas"/>
              </a:defRPr>
            </a:pPr>
            <a:r>
              <a:t>colony_houseinfo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66090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C88C1E"/>
                </a:solidFill>
                <a:latin typeface="Microsoft YaHei Hei"/>
              </a:defRPr>
            </a:pPr>
            <a:r>
              <a:t>草地分区表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660903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name, area, manager, status, pid (树形)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054096"/>
            <a:ext cx="110642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540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334155"/>
                </a:solidFill>
                <a:latin typeface="Consolas"/>
              </a:defRPr>
            </a:pPr>
            <a:r>
              <a:t>d_health_immunizationinfo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0540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C88C1E"/>
                </a:solidFill>
                <a:latin typeface="Microsoft YaHei Hei"/>
              </a:defRPr>
            </a:pPr>
            <a:r>
              <a:t>免疫记录表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054096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basic_id, vaccine_id, imm_date, next_date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447287"/>
            <a:ext cx="1106424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4728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334155"/>
                </a:solidFill>
                <a:latin typeface="Consolas"/>
              </a:defRPr>
            </a:pPr>
            <a:r>
              <a:t>e_breed_rutinfo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44728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C88C1E"/>
                </a:solidFill>
                <a:latin typeface="Microsoft YaHei Hei"/>
              </a:defRPr>
            </a:pPr>
            <a:r>
              <a:t>生长监测表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447287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basic_id, age, breeding, f_date, f_staff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840479"/>
            <a:ext cx="110642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8404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334155"/>
                </a:solidFill>
                <a:latin typeface="Consolas"/>
              </a:defRPr>
            </a:pPr>
            <a:r>
              <a:t>h_store_feedingin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3840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C88C1E"/>
                </a:solidFill>
                <a:latin typeface="Microsoft YaHei Hei"/>
              </a:defRPr>
            </a:pPr>
            <a:r>
              <a:t>饲料入库表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840479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commodity_id, quantity, in_date, supplier_id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233672"/>
            <a:ext cx="1106424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2336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334155"/>
                </a:solidFill>
                <a:latin typeface="Consolas"/>
              </a:defRPr>
            </a:pPr>
            <a:r>
              <a:t>analysis_daily_income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233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C88C1E"/>
                </a:solidFill>
                <a:latin typeface="Microsoft YaHei Hei"/>
              </a:defRPr>
            </a:pPr>
            <a:r>
              <a:t>日收入表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233672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date, income_type, amount, belong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626864"/>
            <a:ext cx="110642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6268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334155"/>
                </a:solidFill>
                <a:latin typeface="Consolas"/>
              </a:defRPr>
            </a:pPr>
            <a:r>
              <a:t>w_information_immunizationMessageinfo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6268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C88C1E"/>
                </a:solidFill>
                <a:latin typeface="Microsoft YaHei Hei"/>
              </a:defRPr>
            </a:pPr>
            <a:r>
              <a:t>预警消息表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4626864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vaccine_id, dead_date, status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303520"/>
            <a:ext cx="1645920" cy="320040"/>
          </a:xfrm>
          <a:prstGeom prst="round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设计要点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5303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4B5563"/>
                </a:solidFill>
                <a:latin typeface="Microsoft YaHei Hei"/>
              </a:defRPr>
            </a:pPr>
            <a:r>
              <a:t>50+ 数据表 | 第三范式设计 | belong 多租户隔离 | SQLAlchemy ORM | 外键关联 basic_id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9CA3AF"/>
                </a:solidFill>
                <a:latin typeface="Microsoft YaHei Hei"/>
              </a:defRPr>
            </a:pPr>
            <a:r>
              <a:t>草地作物病虫害智能监测系统  ·  田昊天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00" cy="762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762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defRPr sz="3000" b="1">
                <a:solidFill>
                  <a:srgbClr val="1E293B"/>
                </a:solidFill>
                <a:latin typeface="Microsoft YaHei Hei"/>
              </a:defRPr>
            </a:pPr>
            <a:r>
              <a:t>五、核心功能模块（上）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3200400" cy="508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3776" y="1499616"/>
            <a:ext cx="2697480" cy="45720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697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514600" cy="36576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田块/作物管理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9CA3AF"/>
                </a:solidFill>
                <a:latin typeface="Microsoft YaHei Hei"/>
              </a:defRPr>
            </a:pPr>
            <a:r>
              <a:t>basic 模块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CRUD + 导入/导出 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作物种类与品种记录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6382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生长周期跟踪与月龄更新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5701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照片档案管理（上传/下载）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5020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系谱图可视化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4136" y="1499616"/>
            <a:ext cx="2697480" cy="45720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37560" y="1463040"/>
            <a:ext cx="2697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29000" y="1554480"/>
            <a:ext cx="2514600" cy="365760"/>
          </a:xfrm>
          <a:prstGeom prst="round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草地分区管理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01168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9CA3AF"/>
                </a:solidFill>
                <a:latin typeface="Microsoft YaHei Hei"/>
              </a:defRPr>
            </a:pPr>
            <a:r>
              <a:t>colony 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3774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区域/栏位树形结构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77063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区域责任人分配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16382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栏位合并与拆分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55701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消毒与维护记录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95020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区域编号自动更新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1499616"/>
            <a:ext cx="2697480" cy="45720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1463040"/>
            <a:ext cx="2697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1554480"/>
            <a:ext cx="2514600" cy="36576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病虫害监测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01168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9CA3AF"/>
                </a:solidFill>
                <a:latin typeface="Microsoft YaHei Hei"/>
              </a:defRPr>
            </a:pPr>
            <a:r>
              <a:t>e_breed 模块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3774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繁殖周期追踪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77063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预警阈值配置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16382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防治计划制定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55701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数据同步至主表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95020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Excel 导出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34856" y="1499616"/>
            <a:ext cx="2697480" cy="45720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98280" y="1463040"/>
            <a:ext cx="2697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89720" y="1554480"/>
            <a:ext cx="2514600" cy="365760"/>
          </a:xfrm>
          <a:prstGeom prst="round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病虫害记录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01168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9CA3AF"/>
                </a:solidFill>
                <a:latin typeface="Microsoft YaHei Hei"/>
              </a:defRPr>
            </a:pPr>
            <a:r>
              <a:t>d_health 模块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3774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发生时间地点记录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277063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类型等级分类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16382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危害程度评估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355701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处置措施记录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395020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免疫/药浴/检疫流程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9CA3AF"/>
                </a:solidFill>
                <a:latin typeface="Microsoft YaHei Hei"/>
              </a:defRPr>
            </a:pPr>
            <a:r>
              <a:t>草地作物病虫害智能监测系统  ·  田昊天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00" cy="762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762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defRPr sz="3000" b="1">
                <a:solidFill>
                  <a:srgbClr val="1E293B"/>
                </a:solidFill>
                <a:latin typeface="Microsoft YaHei Hei"/>
              </a:defRPr>
            </a:pPr>
            <a:r>
              <a:t>五、核心功能模块（下）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3200400" cy="508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3776" y="1499616"/>
            <a:ext cx="2697480" cy="45720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697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514600" cy="36576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物资管理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9CA3AF"/>
                </a:solidFill>
                <a:latin typeface="Microsoft YaHei Hei"/>
              </a:defRPr>
            </a:pPr>
            <a:r>
              <a:t>h_store 模块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农药入库/出库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疫苗入库/出库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6382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库存自动计算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5701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供应商管理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5020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出库单号自动生成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4136" y="1499616"/>
            <a:ext cx="2697480" cy="45720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37560" y="1463040"/>
            <a:ext cx="2697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29000" y="1554480"/>
            <a:ext cx="2514600" cy="365760"/>
          </a:xfrm>
          <a:prstGeom prst="round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损失评估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01168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9CA3AF"/>
                </a:solidFill>
                <a:latin typeface="Microsoft YaHei Hei"/>
              </a:defRPr>
            </a:pPr>
            <a:r>
              <a:t>g_slaughter 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3774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单笔/批量销售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77063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体测信息记录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16382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分割信息管理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55701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经济损失计算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95020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统计报表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1499616"/>
            <a:ext cx="2697480" cy="45720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1463040"/>
            <a:ext cx="2697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1554480"/>
            <a:ext cx="2514600" cy="36576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数据分析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01168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9CA3AF"/>
                </a:solidFill>
                <a:latin typeface="Microsoft YaHei Hei"/>
              </a:defRPr>
            </a:pPr>
            <a:r>
              <a:t>analysis 模块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3774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资产评价标准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77063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日收入/日资产统计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16382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库存资产分析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55701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日报自动生成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95020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ECharts 可视化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343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Excel 报表导出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34856" y="1499616"/>
            <a:ext cx="2697480" cy="45720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98280" y="1463040"/>
            <a:ext cx="2697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89720" y="1554480"/>
            <a:ext cx="2514600" cy="365760"/>
          </a:xfrm>
          <a:prstGeom prst="round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智能诊断与预警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01168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defRPr sz="1100" b="0">
                <a:solidFill>
                  <a:srgbClr val="9CA3AF"/>
                </a:solidFill>
                <a:latin typeface="Microsoft YaHei Hei"/>
              </a:defRPr>
            </a:pPr>
            <a:r>
              <a:t>chatbox + w_information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23774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智谱 AI GLM-4 问答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277063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诊断建议生成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316382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SSE 流式响应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355701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免疫预警推送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95020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4B5563"/>
                </a:solidFill>
                <a:latin typeface="Microsoft YaHei Hei"/>
              </a:defRPr>
            </a:pPr>
            <a:r>
              <a:t>▸  阈值配置管理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9CA3AF"/>
                </a:solidFill>
                <a:latin typeface="Microsoft YaHei Hei"/>
              </a:defRPr>
            </a:pPr>
            <a:r>
              <a:t>草地作物病虫害智能监测系统  ·  田昊天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00" cy="762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762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defRPr sz="3000" b="1">
                <a:solidFill>
                  <a:srgbClr val="1E293B"/>
                </a:solidFill>
                <a:latin typeface="Microsoft YaHei Hei"/>
              </a:defRPr>
            </a:pPr>
            <a:r>
              <a:t>六、系统展示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3200400" cy="508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3776" y="1499616"/>
            <a:ext cx="5532120" cy="22860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5321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600200"/>
            <a:ext cx="502920" cy="502920"/>
          </a:xfrm>
          <a:prstGeom prst="ellipse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00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defRPr sz="2000" b="1">
                <a:solidFill>
                  <a:srgbClr val="1A56C4"/>
                </a:solidFill>
                <a:latin typeface="Microsoft YaHei Hei"/>
              </a:defRPr>
            </a:pPr>
            <a:r>
              <a:t>用户登录与认证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4B5563"/>
                </a:solidFill>
                <a:latin typeface="Microsoft YaHei Hei"/>
              </a:defRPr>
            </a:pPr>
            <a:r>
              <a:t>JWT Token 双令牌机制</a:t>
            </a:r>
            <a:br/>
            <a:r>
              <a:t>access_token (15min) + refresh_token (30day)</a:t>
            </a:r>
            <a:br/>
            <a:r>
              <a:t>自动续期，无感刷新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499616"/>
            <a:ext cx="5532120" cy="22860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5321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1600200"/>
            <a:ext cx="502920" cy="502920"/>
          </a:xfrm>
          <a:prstGeom prst="ellipse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600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defRPr sz="2000" b="1">
                <a:solidFill>
                  <a:srgbClr val="C88C1E"/>
                </a:solidFill>
                <a:latin typeface="Microsoft YaHei Hei"/>
              </a:defRPr>
            </a:pPr>
            <a:r>
              <a:t>数据管理 CRUD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0312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4B5563"/>
                </a:solidFill>
                <a:latin typeface="Microsoft YaHei Hei"/>
              </a:defRPr>
            </a:pPr>
            <a:r>
              <a:t>8 大模块 50+ API 接口</a:t>
            </a:r>
            <a:br/>
            <a:r>
              <a:t>分页查询、条件筛选、Excel 导入导出</a:t>
            </a:r>
            <a:br/>
            <a:r>
              <a:t>outerjoin 关联查询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" y="4059936"/>
            <a:ext cx="5532120" cy="22860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4023360"/>
            <a:ext cx="55321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360" y="4160520"/>
            <a:ext cx="502920" cy="502920"/>
          </a:xfrm>
          <a:prstGeom prst="ellipse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160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defRPr sz="2000" b="1">
                <a:solidFill>
                  <a:srgbClr val="1A56C4"/>
                </a:solidFill>
                <a:latin typeface="Microsoft YaHei Hei"/>
              </a:defRPr>
            </a:pPr>
            <a:r>
              <a:t>智能诊断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66344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4B5563"/>
                </a:solidFill>
                <a:latin typeface="Microsoft YaHei Hei"/>
              </a:defRPr>
            </a:pPr>
            <a:r>
              <a:t>智谱 AI GLM-4 模型集成</a:t>
            </a:r>
            <a:br/>
            <a:r>
              <a:t>SSE 流式响应，实时对话</a:t>
            </a:r>
            <a:br/>
            <a:r>
              <a:t>病虫害诊断建议生成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4059936"/>
            <a:ext cx="5532120" cy="22860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4023360"/>
            <a:ext cx="55321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55080" y="4160520"/>
            <a:ext cx="502920" cy="502920"/>
          </a:xfrm>
          <a:prstGeom prst="ellipse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160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defRPr sz="2000" b="1">
                <a:solidFill>
                  <a:srgbClr val="C88C1E"/>
                </a:solidFill>
                <a:latin typeface="Microsoft YaHei Hei"/>
              </a:defRPr>
            </a:pPr>
            <a:r>
              <a:t>数据可视化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66344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4B5563"/>
                </a:solidFill>
                <a:latin typeface="Microsoft YaHei Hei"/>
              </a:defRPr>
            </a:pPr>
            <a:r>
              <a:t>ECharts 图表引擎</a:t>
            </a:r>
            <a:br/>
            <a:r>
              <a:t>趋势分析、占比饼图</a:t>
            </a:r>
            <a:br/>
            <a:r>
              <a:t>日报/月报自动统计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9CA3AF"/>
                </a:solidFill>
                <a:latin typeface="Microsoft YaHei Hei"/>
              </a:defRPr>
            </a:pPr>
            <a:r>
              <a:t>草地作物病虫害智能监测系统  ·  田昊天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00" cy="762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762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defRPr sz="3000" b="1">
                <a:solidFill>
                  <a:srgbClr val="1E293B"/>
                </a:solidFill>
                <a:latin typeface="Microsoft YaHei Hei"/>
              </a:defRPr>
            </a:pPr>
            <a:r>
              <a:t>七、当前进展与成果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3200400" cy="508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63040"/>
            <a:ext cx="2926080" cy="2926080"/>
          </a:xfrm>
          <a:prstGeom prst="ellipse">
            <a:avLst/>
          </a:prstGeom>
          <a:solidFill>
            <a:srgbClr val="DBEAFE"/>
          </a:solidFill>
          <a:ln w="5080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5600" b="1">
                <a:solidFill>
                  <a:srgbClr val="1A56C4"/>
                </a:solidFill>
                <a:latin typeface="Arial"/>
              </a:defRPr>
            </a:pPr>
            <a:r>
              <a:t>80%</a:t>
            </a:r>
          </a:p>
          <a:p>
            <a:pPr algn="ctr">
              <a:defRPr sz="1600">
                <a:solidFill>
                  <a:srgbClr val="4B5563"/>
                </a:solidFill>
                <a:latin typeface="Microsoft YaHei Hei"/>
              </a:defRPr>
            </a:pPr>
            <a:r>
              <a:t>完成度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68496" y="1499616"/>
            <a:ext cx="7772400" cy="292608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31920" y="1463040"/>
            <a:ext cx="77724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0" y="1600200"/>
            <a:ext cx="2011680" cy="36576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已完成工作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48840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334155"/>
                </a:solidFill>
                <a:latin typeface="Microsoft YaHei Hei"/>
              </a:defRPr>
            </a:pPr>
            <a:r>
              <a:t>✓  项目需求分析与系统设计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0487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334155"/>
                </a:solidFill>
                <a:latin typeface="Microsoft YaHei Hei"/>
              </a:defRPr>
            </a:pPr>
            <a:r>
              <a:t>✓  数据库设计与搭建（50+ 数据表）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60904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334155"/>
                </a:solidFill>
                <a:latin typeface="Microsoft YaHei Hei"/>
              </a:defRPr>
            </a:pPr>
            <a:r>
              <a:t>✓  后端核心 API 开发（11 模块 50+ 接口）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916936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334155"/>
                </a:solidFill>
                <a:latin typeface="Microsoft YaHei Hei"/>
              </a:defRPr>
            </a:pPr>
            <a:r>
              <a:t>✓  用户认证与权限管理（JWT 双令牌）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1729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334155"/>
                </a:solidFill>
                <a:latin typeface="Microsoft YaHei Hei"/>
              </a:defRPr>
            </a:pPr>
            <a:r>
              <a:t>✓  前端界面开发（8+ 功能模块页面）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429000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334155"/>
                </a:solidFill>
                <a:latin typeface="Microsoft YaHei Hei"/>
              </a:defRPr>
            </a:pPr>
            <a:r>
              <a:t>✓  智谱 AI 问答集成（SSE 流式响应）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68503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334155"/>
                </a:solidFill>
                <a:latin typeface="Microsoft YaHei Hei"/>
              </a:defRPr>
            </a:pPr>
            <a:r>
              <a:t>✓  Excel 导入导出功能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941064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334155"/>
                </a:solidFill>
                <a:latin typeface="Microsoft YaHei Hei"/>
              </a:defRPr>
            </a:pPr>
            <a:r>
              <a:t>✓  Docker Compose 一键部署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2976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9CA3AF"/>
                </a:solidFill>
                <a:latin typeface="Microsoft YaHei Hei"/>
              </a:defRPr>
            </a:pPr>
            <a:r>
              <a:t>已完成 13 周 / 共 16 周  |  按计划正常推进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" y="4791456"/>
            <a:ext cx="11247120" cy="13716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754880"/>
            <a:ext cx="11247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92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defRPr sz="3200" b="1">
                <a:solidFill>
                  <a:srgbClr val="1A56C4"/>
                </a:solidFill>
                <a:latin typeface="Microsoft YaHei Hei"/>
              </a:defRPr>
            </a:pPr>
            <a:r>
              <a:t>50+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40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defRPr sz="1300" b="0">
                <a:solidFill>
                  <a:srgbClr val="9CA3AF"/>
                </a:solidFill>
                <a:latin typeface="Microsoft YaHei Hei"/>
              </a:defRPr>
            </a:pPr>
            <a:r>
              <a:t>后端接口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892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defRPr sz="3200" b="1">
                <a:solidFill>
                  <a:srgbClr val="C88C1E"/>
                </a:solidFill>
                <a:latin typeface="Microsoft YaHei Hei"/>
              </a:defRPr>
            </a:pPr>
            <a:r>
              <a:t>50+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440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defRPr sz="1300" b="0">
                <a:solidFill>
                  <a:srgbClr val="9CA3AF"/>
                </a:solidFill>
                <a:latin typeface="Microsoft YaHei Hei"/>
              </a:defRPr>
            </a:pPr>
            <a:r>
              <a:t>数据表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92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defRPr sz="3200" b="1">
                <a:solidFill>
                  <a:srgbClr val="1A56C4"/>
                </a:solidFill>
                <a:latin typeface="Microsoft YaHei Hei"/>
              </a:defRPr>
            </a:pPr>
            <a:r>
              <a:t>8+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440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defRPr sz="1300" b="0">
                <a:solidFill>
                  <a:srgbClr val="9CA3AF"/>
                </a:solidFill>
                <a:latin typeface="Microsoft YaHei Hei"/>
              </a:defRPr>
            </a:pPr>
            <a:r>
              <a:t>前端模块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892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defRPr sz="3200" b="1">
                <a:solidFill>
                  <a:srgbClr val="C88C1E"/>
                </a:solidFill>
                <a:latin typeface="Microsoft YaHei Hei"/>
              </a:defRPr>
            </a:pPr>
            <a:r>
              <a:t>30K+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5440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defRPr sz="1300" b="0">
                <a:solidFill>
                  <a:srgbClr val="9CA3AF"/>
                </a:solidFill>
                <a:latin typeface="Microsoft YaHei Hei"/>
              </a:defRPr>
            </a:pPr>
            <a:r>
              <a:t>代码行数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9CA3AF"/>
                </a:solidFill>
                <a:latin typeface="Microsoft YaHei Hei"/>
              </a:defRPr>
            </a:pPr>
            <a:r>
              <a:t>草地作物病虫害智能监测系统  ·  田昊天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00" cy="762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762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defRPr sz="3000" b="1">
                <a:solidFill>
                  <a:srgbClr val="1E293B"/>
                </a:solidFill>
                <a:latin typeface="Microsoft YaHei Hei"/>
              </a:defRPr>
            </a:pPr>
            <a:r>
              <a:t>八、后续计划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3200400" cy="508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37360" y="1920240"/>
            <a:ext cx="8686800" cy="381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65960" y="1691640"/>
            <a:ext cx="640080" cy="640080"/>
          </a:xfrm>
          <a:prstGeom prst="ellipse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3776" y="2505456"/>
            <a:ext cx="3566160" cy="22860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3566160" cy="22860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defRPr sz="1800" b="1">
                <a:solidFill>
                  <a:srgbClr val="1A56C4"/>
                </a:solidFill>
                <a:latin typeface="Microsoft YaHei Hei"/>
              </a:defRPr>
            </a:pPr>
            <a:r>
              <a:t>第13-14周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334155"/>
                </a:solidFill>
                <a:latin typeface="Microsoft YaHei Hei"/>
              </a:defRPr>
            </a:pPr>
            <a:r>
              <a:t>前端数据可视化优化</a:t>
            </a:r>
            <a:br/>
            <a:r>
              <a:t>移动端适配</a:t>
            </a:r>
            <a:br/>
            <a:r>
              <a:t>预警功能完善</a:t>
            </a:r>
          </a:p>
        </p:txBody>
      </p:sp>
      <p:sp>
        <p:nvSpPr>
          <p:cNvPr id="12" name="Oval 11"/>
          <p:cNvSpPr/>
          <p:nvPr/>
        </p:nvSpPr>
        <p:spPr>
          <a:xfrm>
            <a:off x="5806440" y="1691640"/>
            <a:ext cx="640080" cy="640080"/>
          </a:xfrm>
          <a:prstGeom prst="ellipse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4256" y="2505456"/>
            <a:ext cx="3566160" cy="22860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2468880"/>
            <a:ext cx="3566160" cy="2286000"/>
          </a:xfrm>
          <a:prstGeom prst="roundRect">
            <a:avLst/>
          </a:prstGeom>
          <a:solidFill>
            <a:srgbClr val="F5E0A0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defRPr sz="1800" b="1">
                <a:solidFill>
                  <a:srgbClr val="C88C1E"/>
                </a:solidFill>
                <a:latin typeface="Microsoft YaHei Hei"/>
              </a:defRPr>
            </a:pPr>
            <a:r>
              <a:t>第15周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063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334155"/>
                </a:solidFill>
                <a:latin typeface="Microsoft YaHei Hei"/>
              </a:defRPr>
            </a:pPr>
            <a:r>
              <a:t>系统集成测试</a:t>
            </a:r>
            <a:br/>
            <a:r>
              <a:t>性能优化</a:t>
            </a:r>
            <a:br/>
            <a:r>
              <a:t>安全加固</a:t>
            </a:r>
            <a:br/>
            <a:r>
              <a:t>Bug 修复</a:t>
            </a:r>
          </a:p>
        </p:txBody>
      </p:sp>
      <p:sp>
        <p:nvSpPr>
          <p:cNvPr id="17" name="Oval 16"/>
          <p:cNvSpPr/>
          <p:nvPr/>
        </p:nvSpPr>
        <p:spPr>
          <a:xfrm>
            <a:off x="9646920" y="1691640"/>
            <a:ext cx="640080" cy="640080"/>
          </a:xfrm>
          <a:prstGeom prst="ellipse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74736" y="2505456"/>
            <a:ext cx="3566160" cy="22860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2468880"/>
            <a:ext cx="3566160" cy="22860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defRPr sz="1800" b="1">
                <a:solidFill>
                  <a:srgbClr val="1A56C4"/>
                </a:solidFill>
                <a:latin typeface="Microsoft YaHei Hei"/>
              </a:defRPr>
            </a:pPr>
            <a:r>
              <a:t>第16周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063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334155"/>
                </a:solidFill>
                <a:latin typeface="Microsoft YaHei Hei"/>
              </a:defRPr>
            </a:pPr>
            <a:r>
              <a:t>系统部署上线</a:t>
            </a:r>
            <a:br/>
            <a:r>
              <a:t>论文撰写</a:t>
            </a:r>
            <a:br/>
            <a:r>
              <a:t>答辩准备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" y="4974336"/>
            <a:ext cx="11247120" cy="118872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4937760"/>
            <a:ext cx="11247120" cy="1188720"/>
          </a:xfrm>
          <a:prstGeom prst="roundRect">
            <a:avLst/>
          </a:prstGeom>
          <a:solidFill>
            <a:srgbClr val="F5E0A0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074920"/>
            <a:ext cx="1828800" cy="365760"/>
          </a:xfrm>
          <a:prstGeom prst="round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预期成果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0749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334155"/>
                </a:solidFill>
                <a:latin typeface="Microsoft YaHei Hei"/>
              </a:defRPr>
            </a:pPr>
            <a:r>
              <a:t>功能完整的监测系统  |  8+ 功能模块  |  50+ API 接口  |  响应式前端界面  |  完整论文文档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9CA3AF"/>
                </a:solidFill>
                <a:latin typeface="Microsoft YaHei Hei"/>
              </a:defRPr>
            </a:pPr>
            <a:r>
              <a:t>草地作物病虫害智能监测系统  ·  田昊天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00" cy="762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762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defRPr sz="3000" b="1">
                <a:solidFill>
                  <a:srgbClr val="1E293B"/>
                </a:solidFill>
                <a:latin typeface="Microsoft YaHei Hei"/>
              </a:defRPr>
            </a:pPr>
            <a:r>
              <a:t>九、项目总结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3200400" cy="508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3776" y="1499616"/>
            <a:ext cx="3566160" cy="347472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566160" cy="34747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600200"/>
            <a:ext cx="2560320" cy="41148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技术能力提升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334155"/>
                </a:solidFill>
                <a:latin typeface="Microsoft YaHei Hei"/>
              </a:defRPr>
            </a:pPr>
            <a:r>
              <a:t>熟练掌握 Vue 3、Flask、</a:t>
            </a:r>
            <a:br/>
            <a:r>
              <a:t>SQLAlchemy 等前后端技术</a:t>
            </a:r>
            <a:br/>
            <a:r>
              <a:t>完整开发一个 Web 应用系统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499616"/>
            <a:ext cx="3566160" cy="347472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566160" cy="3474720"/>
          </a:xfrm>
          <a:prstGeom prst="roundRect">
            <a:avLst/>
          </a:prstGeom>
          <a:solidFill>
            <a:srgbClr val="F5E0A0"/>
          </a:solidFill>
          <a:ln w="19050">
            <a:solidFill>
              <a:srgbClr val="C88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00600" y="1600200"/>
            <a:ext cx="2560320" cy="411480"/>
          </a:xfrm>
          <a:prstGeom prst="round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工程实践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86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334155"/>
                </a:solidFill>
                <a:latin typeface="Microsoft YaHei Hei"/>
              </a:defRPr>
            </a:pPr>
            <a:r>
              <a:t>完整经历需求分析、系统</a:t>
            </a:r>
            <a:br/>
            <a:r>
              <a:t>设计、开发测试的全流程</a:t>
            </a:r>
            <a:br/>
            <a:r>
              <a:t>掌握 Docker 容器化部署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499616"/>
            <a:ext cx="3566160" cy="347472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463040"/>
            <a:ext cx="3566160" cy="34747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41080" y="1600200"/>
            <a:ext cx="2560320" cy="41148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问题解决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286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0">
                <a:solidFill>
                  <a:srgbClr val="334155"/>
                </a:solidFill>
                <a:latin typeface="Microsoft YaHei Hei"/>
              </a:defRPr>
            </a:pPr>
            <a:r>
              <a:t>提升 debug 能力、文档</a:t>
            </a:r>
            <a:br/>
            <a:r>
              <a:t>编写能力和独立解决技术</a:t>
            </a:r>
            <a:br/>
            <a:r>
              <a:t>难题的能力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9CA3AF"/>
                </a:solidFill>
                <a:latin typeface="Microsoft YaHei Hei"/>
              </a:defRPr>
            </a:pPr>
            <a:r>
              <a:t>草地作物病虫害智能监测系统  ·  田昊天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00" cy="762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762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943600" cy="6858000"/>
          </a:xfrm>
          <a:prstGeom prst="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73152"/>
            <a:ext cx="164592" cy="68580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00"/>
              </a:lnSpc>
              <a:defRPr sz="5000" b="1">
                <a:solidFill>
                  <a:srgbClr val="FFFFFF"/>
                </a:solidFill>
                <a:latin typeface="Microsoft YaHei Hei"/>
              </a:defRPr>
            </a:pPr>
            <a:r>
              <a:t>感谢</a:t>
            </a:r>
            <a:br/>
            <a:r>
              <a:t>各位老师！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566160"/>
            <a:ext cx="2286000" cy="63500"/>
          </a:xfrm>
          <a:prstGeom prst="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00"/>
              </a:lnSpc>
              <a:defRPr sz="2600" b="0">
                <a:solidFill>
                  <a:srgbClr val="F5E0A0"/>
                </a:solidFill>
                <a:latin typeface="Microsoft YaHei Hei"/>
              </a:defRPr>
            </a:pPr>
            <a:r>
              <a:t>请批评指正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286000"/>
            <a:ext cx="3200400" cy="45720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AgroGuard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971800"/>
            <a:ext cx="3200400" cy="457200"/>
          </a:xfrm>
          <a:prstGeom prst="round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Vue 3 + Flask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657600"/>
            <a:ext cx="3200400" cy="45720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MySQL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343400"/>
            <a:ext cx="3200400" cy="457200"/>
          </a:xfrm>
          <a:prstGeom prst="roundRect">
            <a:avLst/>
          </a:prstGeom>
          <a:solidFill>
            <a:srgbClr val="C88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Docker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5029200"/>
            <a:ext cx="3200400" cy="457200"/>
          </a:xfrm>
          <a:prstGeom prst="roundRect">
            <a:avLst/>
          </a:prstGeom>
          <a:solidFill>
            <a:srgbClr val="1A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智谱AI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defRPr sz="1100" b="0">
                <a:solidFill>
                  <a:srgbClr val="9CA3AF"/>
                </a:solidFill>
                <a:latin typeface="Microsoft YaHei Hei"/>
              </a:defRPr>
            </a:pPr>
            <a:r>
              <a:t>草地作物病虫害智能监测系统  ·  田昊天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